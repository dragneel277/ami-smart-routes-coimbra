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76" y="2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dirty="0"/>
              <a:t>Sistema </a:t>
            </a:r>
            <a:r>
              <a:rPr dirty="0" err="1"/>
              <a:t>Inteligente</a:t>
            </a:r>
            <a:r>
              <a:rPr dirty="0"/>
              <a:t> de </a:t>
            </a:r>
            <a:r>
              <a:rPr dirty="0" err="1"/>
              <a:t>Recomendação</a:t>
            </a:r>
            <a:r>
              <a:rPr dirty="0"/>
              <a:t> de </a:t>
            </a:r>
            <a:r>
              <a:rPr dirty="0" err="1"/>
              <a:t>Rotas</a:t>
            </a:r>
            <a:r>
              <a:rPr dirty="0"/>
              <a:t> </a:t>
            </a:r>
            <a:r>
              <a:rPr dirty="0" err="1"/>
              <a:t>Sensível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Tempo para Coimbra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300">
                <a:solidFill>
                  <a:srgbClr val="232323"/>
                </a:solidFill>
              </a:defRPr>
            </a:pPr>
            <a:r>
              <a:t>Apresentação e Demo do Trabalho Prático</a:t>
            </a:r>
          </a:p>
          <a:p>
            <a:pPr>
              <a:spcAft>
                <a:spcPts val="600"/>
              </a:spcAft>
              <a:defRPr sz="2300">
                <a:solidFill>
                  <a:srgbClr val="232323"/>
                </a:solidFill>
              </a:defRPr>
            </a:pPr>
            <a:r>
              <a:t>Perfil 1 — QGIS, PostGIS, pgRouting e MerginMaps</a:t>
            </a:r>
          </a:p>
          <a:p>
            <a:pPr>
              <a:spcAft>
                <a:spcPts val="600"/>
              </a:spcAft>
              <a:defRPr sz="2300">
                <a:solidFill>
                  <a:srgbClr val="232323"/>
                </a:solidFill>
              </a:defRPr>
            </a:pPr>
            <a:r>
              <a:t>Ruben Ferreiro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840480"/>
            <a:ext cx="10607040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840480"/>
            <a:ext cx="914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3977640"/>
            <a:ext cx="10287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Ideia central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Rotas dinâmicas calculadas com custos sensíveis ao contexto temporal.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Observações locais, eventos e zonas de maior fluxo penalizam segmentos da rede viária.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Estrutura da apresentação antes da demonstração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</a:defRPr>
            </a:pPr>
            <a:r>
              <a:t>Motivação e objetivos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</a:defRPr>
            </a:pPr>
            <a:r>
              <a:t>Dados e camadas SIG utilizadas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</a:defRPr>
            </a:pPr>
            <a:r>
              <a:t>Base de dados espacial e modelo de custos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</a:defRPr>
            </a:pPr>
            <a:r>
              <a:t>Implementação com pgRouting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</a:defRPr>
            </a:pPr>
            <a:r>
              <a:t>Resultados das demonstrações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</a:defRPr>
            </a:pPr>
            <a:r>
              <a:t>MerginMaps e recolha de pontos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</a:defRPr>
            </a:pPr>
            <a:r>
              <a:t>Privacidade, limitações e trabalho futuro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</a:defRPr>
            </a:pPr>
            <a:r>
              <a:t>Demonstração live no QGIS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Motivação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Problema: a rota mais curta nem sempre é a melhor rota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30352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91440" cy="1828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63039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D7D31"/>
                </a:solidFill>
              </a:defRPr>
            </a:pPr>
            <a:r>
              <a:t>Contexto urbano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Em Coimbra existem zonas com fluxo elevado em certos períodos.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Exemplos: Rua do Brasil, Portagem, Alma Shopping/Estádio, eventos académicos.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30352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91440" cy="1828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463039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0000"/>
                </a:solidFill>
              </a:defRPr>
            </a:pPr>
            <a:r>
              <a:t>Limitação da rota tradicional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Algoritmos baseados apenas em distância ignoram congestionamento, eventos e horários.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O utilizador pode receber uma rota curta mas pouco adequada ao contexto.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078992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91440" cy="1325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794760"/>
            <a:ext cx="10469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0AD47"/>
                </a:solidFill>
              </a:defRPr>
            </a:pPr>
            <a:r>
              <a:t>Solução proposta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Converter contexto urbano em penalizações na rede viária.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Calcular rotas com pgRouting usando custos diferentes por período temporal.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Objetivos e Contribuições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Sistema de recomendação de rotas sensível ao tempo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Construir um projeto QGIS com camadas espaciais de contexto urbano.</a:t>
            </a:r>
          </a:p>
          <a:p>
            <a:pPr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Integrar rede viária em PostGIS com custos temporais.</a:t>
            </a:r>
          </a:p>
          <a:p>
            <a:pPr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Usar pgRouting para calcular rotas normal, morning, evening e weekend.</a:t>
            </a:r>
          </a:p>
          <a:p>
            <a:pPr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Adicionar observações locais e zonas de maior fluxo como dados contextuais.</a:t>
            </a:r>
          </a:p>
          <a:p>
            <a:pPr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Publicar versão simplificada no MerginMaps para recolha de pontos no telemóvel.</a:t>
            </a:r>
          </a:p>
          <a:p>
            <a:pPr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Preparar demonstrações comparativas para apresentação live.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Tecnologias utilizadas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Componentes principais do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6636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91440" cy="1508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63039"/>
            <a:ext cx="484632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QGIS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Visualização SIG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Edição de camadas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Layouts/GeoPDF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325880"/>
            <a:ext cx="516636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09359" y="1325880"/>
            <a:ext cx="91440" cy="15087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0527" y="1463039"/>
            <a:ext cx="484632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0AD47"/>
                </a:solidFill>
              </a:defRPr>
            </a:pPr>
            <a:r>
              <a:t>PostgreSQL + PostGIS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Base de dados espacial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Geometrias e queries espaciais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Índices GiST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16636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91440" cy="1508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520440"/>
            <a:ext cx="484632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D7D31"/>
                </a:solidFill>
              </a:defRPr>
            </a:pPr>
            <a:r>
              <a:t>pgRouting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Cálculo de caminhos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Dijkstra com custos temporais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Comparação de rotas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383280"/>
            <a:ext cx="516636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59" y="3383280"/>
            <a:ext cx="91440" cy="1508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7" y="3520440"/>
            <a:ext cx="484632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030A0"/>
                </a:solidFill>
              </a:defRPr>
            </a:pPr>
            <a:r>
              <a:t>MerginMaps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Projeto mobile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Recolha de pontos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Sincronização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B87A86-2796-4882-BD90-DEA53C881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2" descr="Arquitetura da solução em detalhamento">
            <a:extLst>
              <a:ext uri="{FF2B5EF4-FFF2-40B4-BE49-F238E27FC236}">
                <a16:creationId xmlns:a16="http://schemas.microsoft.com/office/drawing/2014/main" id="{63AD5238-BC3E-A574-80A4-9413B8973D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06056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Dados espaciais e camadas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Camadas de contexto e eventos usadas no cálculo</a:t>
            </a:r>
          </a:p>
        </p:txBody>
      </p:sp>
      <p:pic>
        <p:nvPicPr>
          <p:cNvPr id="4" name="Picture 3" descr="Areas and points u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0850"/>
            <a:ext cx="6583680" cy="48163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097280"/>
            <a:ext cx="6583680" cy="4983480"/>
          </a:xfrm>
          <a:prstGeom prst="rect">
            <a:avLst/>
          </a:prstGeom>
          <a:noFill/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52360" y="1234440"/>
            <a:ext cx="4160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crowded_zones: polígonos de baixa, média e alta ocupação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urban_events: eventos académicos e culturais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context_reports: pontos observados no local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route_results: rotas calculadas por período temporal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base_map: referência cartográfica para demonstração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Modelo da base de dados espacial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Tabelas e relações principais em PostGIS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30352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371600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roads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id, source, target, geom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length_meters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cost_normal, cost_morning, cost_evening, cost_weekend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30352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91440" cy="1325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371600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D7D31"/>
                </a:solidFill>
              </a:defRPr>
            </a:pPr>
            <a:r>
              <a:t>context_reports / crowded_zones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Dados observados manualmente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report_type, crowding, time_context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geom Point/Polygon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30352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91440" cy="1325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0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0AD47"/>
                </a:solidFill>
              </a:defRPr>
            </a:pPr>
            <a:r>
              <a:t>road_context_penalties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Tabela intermédia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liga road_id a contexto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penalty_factor por crowding/tempo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71800"/>
            <a:ext cx="530352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971800"/>
            <a:ext cx="91440" cy="13258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3108960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030A0"/>
                </a:solidFill>
              </a:defRPr>
            </a:pPr>
            <a:r>
              <a:t>route_results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Rotas finais para o QGIS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route_type, demo_name, total_cost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geom MultiLineString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A rede viária é a base do grafo usado pelo pgRouting.</a:t>
            </a:r>
          </a:p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As zonas/pontos de contexto não são bloqueios diretos; são convertidos em custos maiores.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Organização do projeto QGIS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Estrutura de grupos e simbologia</a:t>
            </a:r>
          </a:p>
        </p:txBody>
      </p:sp>
      <p:pic>
        <p:nvPicPr>
          <p:cNvPr id="4" name="Picture 3" descr="qgis_layer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48" y="1051560"/>
            <a:ext cx="4079622" cy="5166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051560"/>
            <a:ext cx="4846320" cy="5166360"/>
          </a:xfrm>
          <a:prstGeom prst="rect">
            <a:avLst/>
          </a:prstGeom>
          <a:noFill/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06440" y="13258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06_Routing_Results: rotas normal, morning, evening e weekend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05_Context_and_Events: zonas de crowding, eventos e relatórios de contexto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04_Request_Points: origem/destino para testes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02_Study_Area e 01_Base_Map: enquadramento espacial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Camadas categorizadas para facilitar a demo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Lógica de custo dinâmico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Como o contexto altera a decisão do algoritmo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1. O custo base de cada segmento é o seu comprimento em metros.</a:t>
            </a:r>
          </a:p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2. Segmentos dentro de crowded_zones ou próximos de context_reports recebem penalização.</a:t>
            </a:r>
          </a:p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3. A penalização depende de crowding e time_context.</a:t>
            </a:r>
          </a:p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4. O pgRouting escolhe o caminho com menor custo acumulado, não apenas menor distância.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234440"/>
            <a:ext cx="4892040" cy="2788920"/>
          </a:xfrm>
          <a:prstGeom prst="rect">
            <a:avLst/>
          </a:prstGeom>
          <a:solidFill>
            <a:srgbClr val="222222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56831" y="1371600"/>
            <a:ext cx="4572000" cy="2514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00">
                <a:solidFill>
                  <a:srgbClr val="E6E6E6"/>
                </a:solidFill>
                <a:latin typeface="Consolas"/>
              </a:defRPr>
            </a:pPr>
            <a:r>
              <a:t>cost_normal  = length_meters</a:t>
            </a:r>
            <a:br/>
            <a:r>
              <a:t>cost_morning = length_meters × penalty_morning</a:t>
            </a:r>
            <a:br/>
            <a:r>
              <a:t>cost_evening = length_meters × penalty_evening</a:t>
            </a:r>
            <a:br/>
            <a:r>
              <a:t>cost_weekend = length_meters × penalty_weekend</a:t>
            </a:r>
            <a:br/>
            <a:br/>
            <a:r>
              <a:t>penalty_factor:</a:t>
            </a:r>
            <a:br/>
            <a:r>
              <a:t>  high   → 1.75</a:t>
            </a:r>
            <a:br/>
            <a:r>
              <a:t>  medium → 1.35</a:t>
            </a:r>
            <a:br/>
            <a:r>
              <a:t>  low    → 1.05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105613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4434840"/>
            <a:ext cx="9144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5720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0000"/>
                </a:solidFill>
              </a:defRPr>
            </a:pPr>
            <a:r>
              <a:t>Exemplo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Rua do Brasil: fluxo muito alto entre 16:30 e 18:00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Rotunda da Portagem: fluxo elevado perto das 18h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Recinto Queima/Latada: impacto em eventos/noite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Implementação com pgRouting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Exemplo de código usado para gerar rotas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5486400" cy="4114800"/>
          </a:xfrm>
          <a:prstGeom prst="rect">
            <a:avLst/>
          </a:prstGeom>
          <a:solidFill>
            <a:srgbClr val="222222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371600"/>
            <a:ext cx="5166360" cy="3840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00">
                <a:solidFill>
                  <a:srgbClr val="E6E6E6"/>
                </a:solidFill>
                <a:latin typeface="Consolas"/>
              </a:defRPr>
            </a:pPr>
            <a:r>
              <a:t>SELECT *</a:t>
            </a:r>
            <a:br/>
            <a:r>
              <a:t>FROM pgr_dijkstra(</a:t>
            </a:r>
            <a:br/>
            <a:r>
              <a:t>  'SELECT id, source, target,</a:t>
            </a:r>
            <a:br/>
            <a:r>
              <a:t>          cost_evening AS cost,</a:t>
            </a:r>
            <a:br/>
            <a:r>
              <a:t>          cost_evening AS reverse_cost</a:t>
            </a:r>
            <a:br/>
            <a:r>
              <a:t>   FROM roads',</a:t>
            </a:r>
            <a:br/>
            <a:r>
              <a:t>  v_start_node,</a:t>
            </a:r>
            <a:br/>
            <a:r>
              <a:t>  v_end_node,</a:t>
            </a:r>
            <a:br/>
            <a:r>
              <a:t>  false</a:t>
            </a:r>
            <a:br/>
            <a:r>
              <a:t>);</a:t>
            </a:r>
            <a:br/>
            <a:br/>
            <a:r>
              <a:t>-- Resultado guardado em route_results</a:t>
            </a:r>
            <a:br/>
            <a:r>
              <a:t>-- com route_type, total_cost e geom.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4173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A função create_dynamic_route() recebe origem/destino e tipo de rota.</a:t>
            </a:r>
          </a:p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O tipo de rota escolhe a coluna de custo: normal, morning, evening ou weekend.</a:t>
            </a:r>
          </a:p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O resultado é guardado como MultiLineString em route_results.</a:t>
            </a:r>
          </a:p>
          <a:p>
            <a:pPr>
              <a:spcAft>
                <a:spcPts val="600"/>
              </a:spcAft>
              <a:defRPr sz="1700">
                <a:solidFill>
                  <a:srgbClr val="232323"/>
                </a:solidFill>
              </a:defRPr>
            </a:pPr>
            <a:r>
              <a:t>A tabela route_results é carregada no QGIS para visualização e prints.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Resultados quantitativos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Comparação entre distância física e custo contextual</a:t>
            </a:r>
          </a:p>
        </p:txBody>
      </p:sp>
      <p:pic>
        <p:nvPicPr>
          <p:cNvPr id="4" name="Picture 3" descr="route_co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76" y="1143000"/>
            <a:ext cx="10025207" cy="4160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143000"/>
            <a:ext cx="11064240" cy="4160520"/>
          </a:xfrm>
          <a:prstGeom prst="rect">
            <a:avLst/>
          </a:prstGeom>
          <a:noFill/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4406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Foram geradas 16 rotas: 4 demos × 4 períodos temporais.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O custo contextual aumenta quando a rota atravessa zonas penalizadas.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A distância pode manter-se igual enquanto o custo aumenta — isso representa a influência do contexto.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Demo 1 — ISEC → Rotunda da Portagem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Exemplo principal: a rota evening altera a geometria</a:t>
            </a:r>
          </a:p>
        </p:txBody>
      </p:sp>
      <p:pic>
        <p:nvPicPr>
          <p:cNvPr id="4" name="Picture 3" descr="demo1_isec_portag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8" y="1097280"/>
            <a:ext cx="6341123" cy="4937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097280"/>
            <a:ext cx="6492240" cy="4937760"/>
          </a:xfrm>
          <a:prstGeom prst="rect">
            <a:avLst/>
          </a:prstGeom>
          <a:noFill/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60920" y="1417320"/>
            <a:ext cx="4343400" cy="210312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60920" y="1417320"/>
            <a:ext cx="91440" cy="2103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62088" y="1554480"/>
            <a:ext cx="40233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0000"/>
                </a:solidFill>
              </a:defRPr>
            </a:pPr>
            <a:r>
              <a:t>Resultado observado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normal: 2731.60 m / custo 2731.60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morning: custo 2888.81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evening: 2753.25 m / custo 3183.80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A rota evening é diferente da normal.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3794760"/>
            <a:ext cx="434340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60920" y="3794760"/>
            <a:ext cx="91440" cy="1417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62088" y="3931920"/>
            <a:ext cx="4023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Interpretação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O algoritmo aceita uma rota ligeiramente mais longa quando o custo contextual da rota curta aumenta.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Isto demonstra a sensibilidade temporal do sistema.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Demo 2 — ISEC → Rua do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Exemplo de destino dentro de zona de fluxo elevado</a:t>
            </a:r>
          </a:p>
        </p:txBody>
      </p:sp>
      <p:pic>
        <p:nvPicPr>
          <p:cNvPr id="4" name="Picture 3" descr="demo2_rua_bra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39" y="1097280"/>
            <a:ext cx="4735320" cy="4937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097280"/>
            <a:ext cx="6492240" cy="4937760"/>
          </a:xfrm>
          <a:prstGeom prst="rect">
            <a:avLst/>
          </a:prstGeom>
          <a:noFill/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60920" y="1417320"/>
            <a:ext cx="4343400" cy="192024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60920" y="1417320"/>
            <a:ext cx="91440" cy="1920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62088" y="155448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D7D31"/>
                </a:solidFill>
              </a:defRPr>
            </a:pPr>
            <a:r>
              <a:t>Resultado observado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normal: custo 1253.56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morning: custo 1428.42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evening: custo 1542.38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weekend: custo 1253.56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3657600"/>
            <a:ext cx="434340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60920" y="3657600"/>
            <a:ext cx="91440" cy="1554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62088" y="379476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Interpretação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A geometria pode não mudar porque o destino está na própria zona congestionada.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Mesmo assim, o sistema mostra que naquele horário a rota tem maior custo.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Recolha móvel com MerginMaps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Versão simplificada do projeto para pontos de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5852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Foi preparada uma versão mobile com camadas leves e editáveis.</a:t>
            </a:r>
          </a:p>
          <a:p>
            <a:pPr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A camada principal para recolha é context_reports.</a:t>
            </a:r>
          </a:p>
          <a:p>
            <a:pPr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O utilizador pode adicionar pontos de tráfego, perigo, transporte, educação ou nightlife.</a:t>
            </a:r>
          </a:p>
          <a:p>
            <a:pPr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Após sincronização, os pontos podem ser usados para atualizar penalizações na BD.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508760"/>
            <a:ext cx="4389120" cy="1874519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03720" y="1508760"/>
            <a:ext cx="91440" cy="1874519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04888" y="1645919"/>
            <a:ext cx="406908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0AD47"/>
                </a:solidFill>
              </a:defRPr>
            </a:pPr>
            <a:r>
              <a:t>Na demo live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Abrir projeto mobile/MerginMaps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Mostrar ponto recolhido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Sincronizar/confirmar no QGIS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3794760"/>
            <a:ext cx="4389120" cy="96012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03720" y="3794760"/>
            <a:ext cx="91440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04888" y="3931920"/>
            <a:ext cx="4069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Valor acrescentado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O sistema pode evoluir com dados recolhidos em campo, não apenas dados manuais iniciais.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Disponibilização dos dados e privacidade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Cuidados com dados contextuais georreferenciados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32323"/>
                </a:solidFill>
              </a:defRPr>
            </a:pPr>
            <a:r>
              <a:t>Os dados recolhidos representam eventos ou condições urbanas, não perfis pessoais.</a:t>
            </a:r>
          </a:p>
          <a:p>
            <a:pPr>
              <a:spcAft>
                <a:spcPts val="600"/>
              </a:spcAft>
              <a:defRPr sz="1900">
                <a:solidFill>
                  <a:srgbClr val="232323"/>
                </a:solidFill>
              </a:defRPr>
            </a:pPr>
            <a:r>
              <a:t>Não são guardados nomes de utilizadores, trajetos individuais ou identificadores pessoais.</a:t>
            </a:r>
          </a:p>
          <a:p>
            <a:pPr>
              <a:spcAft>
                <a:spcPts val="600"/>
              </a:spcAft>
              <a:defRPr sz="1900">
                <a:solidFill>
                  <a:srgbClr val="232323"/>
                </a:solidFill>
              </a:defRPr>
            </a:pPr>
            <a:r>
              <a:t>A granularidade é espacial/contextual: pontos e zonas agregadas.</a:t>
            </a:r>
          </a:p>
          <a:p>
            <a:pPr>
              <a:spcAft>
                <a:spcPts val="600"/>
              </a:spcAft>
              <a:defRPr sz="1900">
                <a:solidFill>
                  <a:srgbClr val="232323"/>
                </a:solidFill>
              </a:defRPr>
            </a:pPr>
            <a:r>
              <a:t>Para publicação externa, os dados podem ser agregados por zona e por período temporal.</a:t>
            </a:r>
          </a:p>
          <a:p>
            <a:pPr>
              <a:spcAft>
                <a:spcPts val="600"/>
              </a:spcAft>
              <a:defRPr sz="1900">
                <a:solidFill>
                  <a:srgbClr val="232323"/>
                </a:solidFill>
              </a:defRPr>
            </a:pPr>
            <a:r>
              <a:t>Apenas campos técnicos são necessários: tipo, descrição, crowding, time_context e geometria.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Conclusões e trabalho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Síntese do trabalho desenvolvido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5303520" cy="224028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91440" cy="2240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371600"/>
            <a:ext cx="49834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0AD47"/>
                </a:solidFill>
              </a:defRPr>
            </a:pPr>
            <a:r>
              <a:t>Concluído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Projeto QGIS organizado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Context data + crowded zones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PostGIS + pgRouting funcional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16 rotas de demonstração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MerginMaps para recolha móvel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303520" cy="224028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91440" cy="2240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7" y="1371600"/>
            <a:ext cx="49834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D7D31"/>
                </a:solidFill>
              </a:defRPr>
            </a:pPr>
            <a:r>
              <a:t>Limitações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Dados de fluxo baseados em observação manual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Penalizações calibradas de forma experimental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Sem API de trânsito em tempo real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Algumas rotas mantêm geometria igual mas custo diferente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77639"/>
            <a:ext cx="1078992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3977639"/>
            <a:ext cx="91440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4114800"/>
            <a:ext cx="10469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Trabalho futuro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Integrar dados reais de tráfego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Melhorar calibração dos fatores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Criar plugin QGIS dedicado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</a:defRPr>
            </a:pPr>
            <a:r>
              <a:t>Atualizar custos automaticamente após sincronização MerginMaps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Demo live no QGIS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Etapas a mostrar após os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32323"/>
                </a:solidFill>
              </a:defRPr>
            </a:pPr>
            <a:r>
              <a:t>1. Mostrar estrutura das camadas no QGIS.</a:t>
            </a:r>
          </a:p>
          <a:p>
            <a:pPr>
              <a:spcAft>
                <a:spcPts val="600"/>
              </a:spcAft>
              <a:defRPr sz="1900">
                <a:solidFill>
                  <a:srgbClr val="232323"/>
                </a:solidFill>
              </a:defRPr>
            </a:pPr>
            <a:r>
              <a:t>2. Mostrar crowded_zones, urban_events e context_reports.</a:t>
            </a:r>
          </a:p>
          <a:p>
            <a:pPr>
              <a:spcAft>
                <a:spcPts val="600"/>
              </a:spcAft>
              <a:defRPr sz="1900">
                <a:solidFill>
                  <a:srgbClr val="232323"/>
                </a:solidFill>
              </a:defRPr>
            </a:pPr>
            <a:r>
              <a:t>3. Carregar/filtrar route_results por demo_name.</a:t>
            </a:r>
          </a:p>
          <a:p>
            <a:pPr>
              <a:spcAft>
                <a:spcPts val="600"/>
              </a:spcAft>
              <a:defRPr sz="1900">
                <a:solidFill>
                  <a:srgbClr val="232323"/>
                </a:solidFill>
              </a:defRPr>
            </a:pPr>
            <a:r>
              <a:t>4. Demo 1: ISEC → Portagem — comparar normal vs evening.</a:t>
            </a:r>
          </a:p>
          <a:p>
            <a:pPr>
              <a:spcAft>
                <a:spcPts val="600"/>
              </a:spcAft>
              <a:defRPr sz="1900">
                <a:solidFill>
                  <a:srgbClr val="232323"/>
                </a:solidFill>
              </a:defRPr>
            </a:pPr>
            <a:r>
              <a:t>5. Demo 2: ISEC → Rua do Brasil — mostrar aumento de custo.</a:t>
            </a:r>
          </a:p>
          <a:p>
            <a:pPr>
              <a:spcAft>
                <a:spcPts val="600"/>
              </a:spcAft>
              <a:defRPr sz="1900">
                <a:solidFill>
                  <a:srgbClr val="232323"/>
                </a:solidFill>
              </a:defRPr>
            </a:pPr>
            <a:r>
              <a:t>6. Mostrar tabela route_results com distance_meters, contextual_cost e extra_context_cost.</a:t>
            </a:r>
          </a:p>
          <a:p>
            <a:pPr>
              <a:spcAft>
                <a:spcPts val="600"/>
              </a:spcAft>
              <a:defRPr sz="1900">
                <a:solidFill>
                  <a:srgbClr val="232323"/>
                </a:solidFill>
              </a:defRPr>
            </a:pPr>
            <a:r>
              <a:t>7. Mostrar MerginMaps/mobile e explicar recolha de novos pontos.</a:t>
            </a:r>
          </a:p>
          <a:p>
            <a:pPr>
              <a:spcAft>
                <a:spcPts val="600"/>
              </a:spcAft>
              <a:defRPr sz="1900">
                <a:solidFill>
                  <a:srgbClr val="232323"/>
                </a:solidFill>
              </a:defRPr>
            </a:pPr>
            <a:r>
              <a:t>8. Concluir com limitações e evolução futura.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5A5A"/>
                </a:solidFill>
              </a:defRPr>
            </a:pPr>
            <a:r>
              <a:t>Sistema Inteligente de Recomendação de Rotas Sensível ao Tempo para Coimbra     2026-06-11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1681</Words>
  <Application>Microsoft Office PowerPoint</Application>
  <PresentationFormat>Widescreen</PresentationFormat>
  <Paragraphs>212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Ruben João Rocha Pires Morffis Ferreiro</cp:lastModifiedBy>
  <cp:revision>3</cp:revision>
  <dcterms:created xsi:type="dcterms:W3CDTF">2013-01-27T09:14:16Z</dcterms:created>
  <dcterms:modified xsi:type="dcterms:W3CDTF">2026-06-10T09:11:18Z</dcterms:modified>
  <cp:category/>
</cp:coreProperties>
</file>